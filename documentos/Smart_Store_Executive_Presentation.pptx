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9.png"/><Relationship Id="rId10" Type="http://schemas.openxmlformats.org/officeDocument/2006/relationships/image" Target="../media/image-5-2.png"/><Relationship Id="rId11" Type="http://schemas.openxmlformats.org/officeDocument/2006/relationships/image" Target="../media/image-5-11.png"/><Relationship Id="rId12" Type="http://schemas.openxmlformats.org/officeDocument/2006/relationships/image" Target="../media/image-5-6.png"/><Relationship Id="rId13" Type="http://schemas.openxmlformats.org/officeDocument/2006/relationships/image" Target="../media/image-5-13.png"/><Relationship Id="rId14" Type="http://schemas.openxmlformats.org/officeDocument/2006/relationships/image" Target="../media/image-5-2.png"/><Relationship Id="rId15" Type="http://schemas.openxmlformats.org/officeDocument/2006/relationships/image" Target="../media/image-5-15.png"/><Relationship Id="rId16" Type="http://schemas.openxmlformats.org/officeDocument/2006/relationships/image" Target="../media/image-5-2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43D5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"/>
            <a:ext cx="1463040" cy="146304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3383280"/>
            <a:ext cx="2011680" cy="2011680"/>
          </a:xfrm>
          <a:prstGeom prst="ellipse">
            <a:avLst/>
          </a:prstGeom>
          <a:solidFill>
            <a:srgbClr val="00B4D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23960" y="5166360"/>
            <a:ext cx="1005840" cy="100584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pic>
        <p:nvPicPr>
          <p:cNvPr id="6" name="Image 0" descr="assets/microchip-whit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332720" y="30632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DE ARQUITETURA E NEGÓCIOS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Smart Store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758952" y="3200400"/>
            <a:ext cx="7315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34290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Autônomo de Varejo e Controle de Estoque 24h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58952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  ×  INTELIGÊNCIA ARTIFICIAL  ×  VAREJO SEM FRICÇÃO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DE MERCADO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Problema das Lojas Tradicionais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58952" y="20574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atual de varejo enfrenta gargalos crônicos que erodem margens e afastam consumidores. A fricção no processo de compra é o principal vetor de desistência.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3017520"/>
            <a:ext cx="5074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496312" y="3218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consumidores abandonam a compra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96312" y="35844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 enfrentarem filas superiores a 5 minutos em horários de pico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4434840"/>
            <a:ext cx="5074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4617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35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96312" y="46360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Perda de receita por ruptura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96312" y="50017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Produtos esgotados sem reposição imediata geram prejuízo anual significativo</a:t>
            </a:r>
            <a:endParaRPr lang="en-US" sz="1050" dirty="0"/>
          </a:p>
        </p:txBody>
      </p:sp>
      <p:pic>
        <p:nvPicPr>
          <p:cNvPr id="16" name="Image 0" descr="assets/exclamation-triangle-da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210312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02552" y="2084832"/>
            <a:ext cx="4684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Dores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91072" y="2990088"/>
            <a:ext cx="5141671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2606040"/>
            <a:ext cx="4849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Longas filas em horários de pico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91072" y="3447288"/>
            <a:ext cx="5141671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91072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0" y="3063240"/>
            <a:ext cx="4849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estoque manual com alta taxa de erro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91072" y="3904488"/>
            <a:ext cx="5141671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91072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83680" y="3520440"/>
            <a:ext cx="4849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operacional proibitivo para 24h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91072" y="4361688"/>
            <a:ext cx="5141671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3977640"/>
            <a:ext cx="4849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Furtos e perdas por má gestão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91072" y="4818888"/>
            <a:ext cx="5141671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91072" y="4434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83680" y="4434840"/>
            <a:ext cx="4849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 do consumidor fragmentada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Fonte: Análise interna de mercado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2070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Proposta da Smart Store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2103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9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autônomo baseado em IoT e Inteligência Artificial que permite o funcionamento 24/7 sem operadores de caixa.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2788920"/>
            <a:ext cx="73152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310896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7592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ENTRADA SEM ATRITO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07592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PIR detecta presença e libera acesso via QR Code no app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" y="397764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07592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 AUTÔNOMA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07592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Tags RFID 13,56MHz identificam produtos no cesto inteligente automaticamente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" y="484632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07592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TRANSPARENTE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07592" y="50932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 automático via carteira digital cadastrada — sem filas, sem espera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36792" y="1280160"/>
            <a:ext cx="5095951" cy="3291840"/>
          </a:xfrm>
          <a:prstGeom prst="roundRect">
            <a:avLst>
              <a:gd name="adj" fmla="val 2222"/>
            </a:avLst>
          </a:prstGeom>
          <a:solidFill>
            <a:srgbClr val="143D5D"/>
          </a:solidFill>
          <a:ln/>
        </p:spPr>
      </p:sp>
      <p:pic>
        <p:nvPicPr>
          <p:cNvPr id="22" name="Image 0" descr="assets/wifi-accentligh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36128" y="2377440"/>
            <a:ext cx="1097280" cy="10972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199632" y="4709160"/>
            <a:ext cx="5233111" cy="868680"/>
          </a:xfrm>
          <a:prstGeom prst="roundRect">
            <a:avLst>
              <a:gd name="adj" fmla="val 6316"/>
            </a:avLst>
          </a:prstGeom>
          <a:solidFill>
            <a:srgbClr val="00B4D8"/>
          </a:solidFill>
          <a:ln/>
        </p:spPr>
      </p:sp>
      <p:pic>
        <p:nvPicPr>
          <p:cNvPr id="24" name="Image 1" descr="assets/bolt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489204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93992" y="4846320"/>
            <a:ext cx="45473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drástica de custos operacionais para franqueados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 × Negócios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DIRETRIZES ESTRATÉGICAS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Objetivos do Projeto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Desenvolver e implementar a arquitetura completa de um sistema de varejo autônomo, integrando hardware, software e inteligência artificial.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2514600"/>
            <a:ext cx="3344570" cy="457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560320"/>
            <a:ext cx="334457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/>
        </p:spPr>
      </p:sp>
      <p:pic>
        <p:nvPicPr>
          <p:cNvPr id="11" name="Image 0" descr="assets/microchi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5292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3355848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de Borda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7552" y="3657600"/>
            <a:ext cx="2887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Microcontroladores ESP32 integrados a leitores RFID RC522 (13,56MHz) para identificação precisa de produtos em tempo real.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23562" y="2514600"/>
            <a:ext cx="334457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2"/>
          <p:cNvSpPr/>
          <p:nvPr/>
        </p:nvSpPr>
        <p:spPr>
          <a:xfrm>
            <a:off x="4423562" y="2560320"/>
            <a:ext cx="334457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52162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pic>
        <p:nvPicPr>
          <p:cNvPr id="17" name="Image 1" descr="assets/serve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85292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52162" y="3355848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Robustas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652162" y="3657600"/>
            <a:ext cx="2887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em C# e ASP.NET Core orquestrando a comunicação entre edge e banco de dados via REST e WebHooks.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088173" y="2514600"/>
            <a:ext cx="3344570" cy="4572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21" name="Shape 17"/>
          <p:cNvSpPr/>
          <p:nvPr/>
        </p:nvSpPr>
        <p:spPr>
          <a:xfrm>
            <a:off x="8088173" y="2560320"/>
            <a:ext cx="334457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16773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A8A8A"/>
          </a:solidFill>
          <a:ln/>
        </p:spPr>
      </p:sp>
      <p:pic>
        <p:nvPicPr>
          <p:cNvPr id="23" name="Image 2" descr="assets/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501" y="285292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16773" y="3355848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16773" y="3657600"/>
            <a:ext cx="2887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Server relacional e otimizado para gestão de produtos, inventário e transações financeiras com integridade ACID.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58952" y="4480560"/>
            <a:ext cx="3344570" cy="45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7" name="Shape 22"/>
          <p:cNvSpPr/>
          <p:nvPr/>
        </p:nvSpPr>
        <p:spPr>
          <a:xfrm>
            <a:off x="758952" y="4526280"/>
            <a:ext cx="334457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87552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8A745"/>
          </a:solidFill>
          <a:ln/>
        </p:spPr>
      </p:sp>
      <p:pic>
        <p:nvPicPr>
          <p:cNvPr id="29" name="Image 3" descr="assets/brai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81888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" y="5321808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87552" y="5623560"/>
            <a:ext cx="2887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Gemini para análise preditiva de estoque, recomendações e suporte inteligente ao administrador.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423562" y="4480560"/>
            <a:ext cx="334457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3" name="Shape 27"/>
          <p:cNvSpPr/>
          <p:nvPr/>
        </p:nvSpPr>
        <p:spPr>
          <a:xfrm>
            <a:off x="4423562" y="4526280"/>
            <a:ext cx="334457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652162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C107"/>
          </a:solidFill>
          <a:ln/>
        </p:spPr>
      </p:sp>
      <p:pic>
        <p:nvPicPr>
          <p:cNvPr id="35" name="Image 4" descr="assets/shield-al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890" y="4818888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652162" y="5321808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 Inteligente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652162" y="5623560"/>
            <a:ext cx="2887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de saída com resposta automatizada a anomalias, sem risco de confinamento físico.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8088173" y="4480560"/>
            <a:ext cx="3344570" cy="457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9" name="Shape 32"/>
          <p:cNvSpPr/>
          <p:nvPr/>
        </p:nvSpPr>
        <p:spPr>
          <a:xfrm>
            <a:off x="8088173" y="4526280"/>
            <a:ext cx="334457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16773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3545"/>
          </a:solidFill>
          <a:ln/>
        </p:spPr>
      </p:sp>
      <p:pic>
        <p:nvPicPr>
          <p:cNvPr id="41" name="Image 5" descr="assets/clo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501" y="4818888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316773" y="5321808"/>
            <a:ext cx="288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Operação 24/7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8316773" y="5623560"/>
            <a:ext cx="2887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Funcionamento contínuo sem intervenção humana direta, reduzindo custos e maximizando receita.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Alcance Estratégico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TÉCNICA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Arquitetura Geral do Sistema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Projetada para latência mínima e alta confiabilidade, distribuindo a carga entre dispositivos de borda e servidores centrais.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42316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9" name="Image 0" descr="assets/user-accen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53288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28346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0392" y="3044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Início da Jornada</a:t>
            </a:r>
            <a:endParaRPr lang="en-US" sz="850" dirty="0"/>
          </a:p>
        </p:txBody>
      </p:sp>
      <p:pic>
        <p:nvPicPr>
          <p:cNvPr id="12" name="Image 1" descr="assets/arrow-righ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04" y="277520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25112" y="242316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14" name="Image 2" descr="assets/wifi-accent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253288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16552" y="28346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PIR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416552" y="3044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Presença</a:t>
            </a:r>
            <a:endParaRPr lang="en-US" sz="850" dirty="0"/>
          </a:p>
        </p:txBody>
      </p:sp>
      <p:pic>
        <p:nvPicPr>
          <p:cNvPr id="17" name="Image 3" descr="assets/arrow-right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277520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891272" y="242316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0F4A63"/>
          </a:solidFill>
          <a:ln w="15875">
            <a:solidFill>
              <a:srgbClr val="00B4D8"/>
            </a:solidFill>
            <a:prstDash val="solid"/>
          </a:ln>
        </p:spPr>
      </p:sp>
      <p:pic>
        <p:nvPicPr>
          <p:cNvPr id="19" name="Image 4" descr="assets/microchi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6316" y="25328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82712" y="28346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 + RFID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982712" y="3044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Computing</a:t>
            </a:r>
            <a:endParaRPr lang="en-US" sz="850" dirty="0"/>
          </a:p>
        </p:txBody>
      </p:sp>
      <p:pic>
        <p:nvPicPr>
          <p:cNvPr id="22" name="Image 5" descr="assets/arrow-down-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876" y="333756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58952" y="361188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0F4A63"/>
          </a:solidFill>
          <a:ln w="15875">
            <a:solidFill>
              <a:srgbClr val="00B4D8"/>
            </a:solidFill>
            <a:prstDash val="solid"/>
          </a:ln>
        </p:spPr>
      </p:sp>
      <p:pic>
        <p:nvPicPr>
          <p:cNvPr id="24" name="Image 6" descr="assets/cod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3996" y="372160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50392" y="40233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ASP.NET CORE API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850392" y="42336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C# / REST / WebHooks</a:t>
            </a:r>
            <a:endParaRPr lang="en-US" sz="850" dirty="0"/>
          </a:p>
        </p:txBody>
      </p:sp>
      <p:pic>
        <p:nvPicPr>
          <p:cNvPr id="27" name="Image 7" descr="assets/arrow-right-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2504" y="3963924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325112" y="361188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29" name="Image 8" descr="assets/database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0156" y="3721608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416552" y="40233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31" name="Text 20"/>
          <p:cNvSpPr/>
          <p:nvPr/>
        </p:nvSpPr>
        <p:spPr>
          <a:xfrm>
            <a:off x="4416552" y="42336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Inventário &amp; Transações</a:t>
            </a:r>
            <a:endParaRPr lang="en-US" sz="850" dirty="0"/>
          </a:p>
        </p:txBody>
      </p:sp>
      <p:pic>
        <p:nvPicPr>
          <p:cNvPr id="32" name="Image 9" descr="assets/arrow-right-acc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8664" y="3963924"/>
            <a:ext cx="164592" cy="164592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7891272" y="361188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34" name="Image 10" descr="assets/brain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6316" y="3721608"/>
            <a:ext cx="256032" cy="25603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982712" y="40233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AI</a:t>
            </a:r>
            <a:endParaRPr lang="en-US" sz="1050" dirty="0"/>
          </a:p>
        </p:txBody>
      </p:sp>
      <p:sp>
        <p:nvSpPr>
          <p:cNvPr id="36" name="Text 23"/>
          <p:cNvSpPr/>
          <p:nvPr/>
        </p:nvSpPr>
        <p:spPr>
          <a:xfrm>
            <a:off x="7982712" y="42336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 Preditivos</a:t>
            </a:r>
            <a:endParaRPr lang="en-US" sz="850" dirty="0"/>
          </a:p>
        </p:txBody>
      </p:sp>
      <p:pic>
        <p:nvPicPr>
          <p:cNvPr id="37" name="Image 11" descr="assets/arrow-down-acc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5876" y="4526280"/>
            <a:ext cx="164592" cy="164592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758952" y="480060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39" name="Image 12" descr="assets/boxes-accentl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3996" y="4910328"/>
            <a:ext cx="256032" cy="25603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850392" y="5212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ESTOQUE</a:t>
            </a:r>
            <a:endParaRPr lang="en-US" sz="1050" dirty="0"/>
          </a:p>
        </p:txBody>
      </p:sp>
      <p:sp>
        <p:nvSpPr>
          <p:cNvPr id="41" name="Text 26"/>
          <p:cNvSpPr/>
          <p:nvPr/>
        </p:nvSpPr>
        <p:spPr>
          <a:xfrm>
            <a:off x="850392" y="54223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Atualização em Tempo Real</a:t>
            </a:r>
            <a:endParaRPr lang="en-US" sz="850" dirty="0"/>
          </a:p>
        </p:txBody>
      </p:sp>
      <p:pic>
        <p:nvPicPr>
          <p:cNvPr id="42" name="Image 13" descr="assets/arrow-right-accen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32504" y="5152644"/>
            <a:ext cx="164592" cy="164592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4325112" y="480060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44" name="Image 14" descr="assets/shopping-cart-accentligh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20156" y="4910328"/>
            <a:ext cx="256032" cy="256032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6552" y="5212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CARRINHO VIRTUAL</a:t>
            </a:r>
            <a:endParaRPr lang="en-US" sz="1050" dirty="0"/>
          </a:p>
        </p:txBody>
      </p:sp>
      <p:sp>
        <p:nvSpPr>
          <p:cNvPr id="46" name="Text 29"/>
          <p:cNvSpPr/>
          <p:nvPr/>
        </p:nvSpPr>
        <p:spPr>
          <a:xfrm>
            <a:off x="4416552" y="54223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Soma das Tags Lidas</a:t>
            </a:r>
            <a:endParaRPr lang="en-US" sz="850" dirty="0"/>
          </a:p>
        </p:txBody>
      </p:sp>
      <p:pic>
        <p:nvPicPr>
          <p:cNvPr id="47" name="Image 15" descr="assets/arrow-right-accen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8664" y="5152644"/>
            <a:ext cx="164592" cy="164592"/>
          </a:xfrm>
          <a:prstGeom prst="rect">
            <a:avLst/>
          </a:prstGeom>
        </p:spPr>
      </p:pic>
      <p:sp>
        <p:nvSpPr>
          <p:cNvPr id="48" name="Shape 30"/>
          <p:cNvSpPr/>
          <p:nvPr/>
        </p:nvSpPr>
        <p:spPr>
          <a:xfrm>
            <a:off x="7891272" y="4800600"/>
            <a:ext cx="3246120" cy="868680"/>
          </a:xfrm>
          <a:prstGeom prst="roundRect">
            <a:avLst>
              <a:gd name="adj" fmla="val 6316"/>
            </a:avLst>
          </a:prstGeom>
          <a:solidFill>
            <a:srgbClr val="143D5D"/>
          </a:solidFill>
          <a:ln/>
        </p:spPr>
      </p:sp>
      <p:pic>
        <p:nvPicPr>
          <p:cNvPr id="49" name="Image 16" descr="assets/credit-card-accentligh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86316" y="4910328"/>
            <a:ext cx="256032" cy="256032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7982712" y="52120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 PAGAMENTO</a:t>
            </a:r>
            <a:endParaRPr lang="en-US" sz="1050" dirty="0"/>
          </a:p>
        </p:txBody>
      </p:sp>
      <p:sp>
        <p:nvSpPr>
          <p:cNvPr id="51" name="Text 32"/>
          <p:cNvSpPr/>
          <p:nvPr/>
        </p:nvSpPr>
        <p:spPr>
          <a:xfrm>
            <a:off x="7982712" y="54223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Automática</a:t>
            </a:r>
            <a:endParaRPr lang="en-US" sz="850" dirty="0"/>
          </a:p>
        </p:txBody>
      </p:sp>
      <p:sp>
        <p:nvSpPr>
          <p:cNvPr id="52" name="Shape 33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3" name="Text 34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54" name="Text 35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Edge-to-Cloud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JORNADA DO CONSUMIDOR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Fluxo Completo de Operação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reativo a eventos, mapeando a jornada do consumidor de ponta a ponta sem intervenção humana.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92403" y="233172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1392403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2755" y="2587752"/>
            <a:ext cx="1230325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71800"/>
            <a:ext cx="1687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3273552"/>
            <a:ext cx="16875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PIR detecta presença. Acesso liberado via QR Code no app, vinculando à sessão de compra.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1368" y="233172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317136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01720" y="2587752"/>
            <a:ext cx="1230325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3637" y="2971800"/>
            <a:ext cx="1687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Interação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83637" y="3273552"/>
            <a:ext cx="16875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Tags RFID 13,56MHz nos produtos são lidas pelo cesto inteligente (ESP32 + RC522).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50333" y="233172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4950333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0685" y="2587752"/>
            <a:ext cx="1230325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2602" y="2971800"/>
            <a:ext cx="1687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Processamento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62602" y="3273552"/>
            <a:ext cx="16875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via Wi-Fi para API ASP.NET Core. Validação em SQL Server e atualização do carrinho.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9298" y="233172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29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59650" y="2587752"/>
            <a:ext cx="1230325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1568" y="2971800"/>
            <a:ext cx="1687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41568" y="3273552"/>
            <a:ext cx="16875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exibido em display ou smartphone. Pagamento processado via banco ou carteira digital.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08263" y="233172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8508263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38615" y="2587752"/>
            <a:ext cx="1230325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0533" y="2971800"/>
            <a:ext cx="1687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IA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20533" y="3273552"/>
            <a:ext cx="16875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registra padrões de compra para prever rupturas e otimizar precificação dinâmica.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287229" y="233172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229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99498" y="2971800"/>
            <a:ext cx="1687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Saída Segura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99498" y="3273552"/>
            <a:ext cx="16875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Cruzamento de dados do carrinho com pagamento. Alarme inteligente atua sem travar portas.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8952" y="4709160"/>
            <a:ext cx="10673791" cy="1005840"/>
          </a:xfrm>
          <a:prstGeom prst="roundRect">
            <a:avLst>
              <a:gd name="adj" fmla="val 5455"/>
            </a:avLst>
          </a:prstGeom>
          <a:solidFill>
            <a:srgbClr val="0A2540"/>
          </a:solidFill>
          <a:ln/>
        </p:spPr>
      </p:sp>
      <p:pic>
        <p:nvPicPr>
          <p:cNvPr id="38" name="Image 0" descr="assets/lightbulb-accen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956048"/>
            <a:ext cx="502920" cy="5029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764792" y="48463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DIFERENCIAL CRÍTICO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764792" y="510235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sistema de segurança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nunca impede a saída fisicamente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preserva evacuação de emergência e aciona alarme inteligente com notificação remota.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100% Autônomo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REDUNDÂNCIA E PRECISÃO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207008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Monitoramento Inteligente por Câmera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segunda camada de verificação, baseada em visão computacional, confirma de forma independente cada produto retirado ou devolvido à prateleira.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926080"/>
            <a:ext cx="73152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324612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7592" y="3218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 CONTÍNUA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07592" y="3493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Câmeras posicionadas nas prateleiras registram o ambiente em intervalos curtos, sem intervenção humana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" y="411480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07592" y="4087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POR IA GENERATIVA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07592" y="43616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Google Gemini compara os quadros "antes" e "depois" para identificar qual produto foi retirado ou devolvido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" y="498348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07592" y="49560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CRUZADA COM RFID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07592" y="5230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resultado é conferido com a leitura RFID da mesma transação, elevando a confiabilidade e reduzindo fraudes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68312" y="1280160"/>
            <a:ext cx="4364431" cy="3291840"/>
          </a:xfrm>
          <a:prstGeom prst="roundRect">
            <a:avLst>
              <a:gd name="adj" fmla="val 2222"/>
            </a:avLst>
          </a:prstGeom>
          <a:solidFill>
            <a:srgbClr val="143D5D"/>
          </a:solidFill>
          <a:ln/>
        </p:spPr>
      </p:sp>
      <p:pic>
        <p:nvPicPr>
          <p:cNvPr id="22" name="Image 0" descr="assets/video-accen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7608" y="2286000"/>
            <a:ext cx="1005840" cy="1005840"/>
          </a:xfrm>
          <a:prstGeom prst="rect">
            <a:avLst/>
          </a:prstGeom>
        </p:spPr>
      </p:pic>
      <p:pic>
        <p:nvPicPr>
          <p:cNvPr id="23" name="Image 1" descr="assets/sync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360" y="3429000"/>
            <a:ext cx="402336" cy="40233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931152" y="4709160"/>
            <a:ext cx="4501591" cy="868680"/>
          </a:xfrm>
          <a:prstGeom prst="roundRect">
            <a:avLst>
              <a:gd name="adj" fmla="val 6316"/>
            </a:avLst>
          </a:prstGeom>
          <a:solidFill>
            <a:srgbClr val="00B4D8"/>
          </a:solidFill>
          <a:ln/>
        </p:spPr>
      </p:sp>
      <p:pic>
        <p:nvPicPr>
          <p:cNvPr id="25" name="Image 2" descr="assets/vide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89204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25512" y="4846320"/>
            <a:ext cx="38157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 automaticamente produtos retirados ou devolvidos, em tempo real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Computacional × Confiabilidade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ESTRATÉGICA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Matriz SWOT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dos cenários internos e externos que impactam implantação e manutenção do modelo.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331720"/>
            <a:ext cx="5199736" cy="1965960"/>
          </a:xfrm>
          <a:prstGeom prst="rect">
            <a:avLst/>
          </a:prstGeom>
          <a:solidFill>
            <a:srgbClr val="E9F6EC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331720"/>
            <a:ext cx="54864" cy="1965960"/>
          </a:xfrm>
          <a:prstGeom prst="rect">
            <a:avLst/>
          </a:prstGeom>
          <a:solidFill>
            <a:srgbClr val="28A745"/>
          </a:solidFill>
          <a:ln/>
        </p:spPr>
      </p:sp>
      <p:pic>
        <p:nvPicPr>
          <p:cNvPr id="10" name="Image 0" descr="assets/plus-circle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51460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07592" y="2478024"/>
            <a:ext cx="446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Forças (Strengths)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7552" y="2834640"/>
            <a:ext cx="474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Funcionamento 24/7 sem custos de funcionários ociosos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precisão e baixo custo da tecnologia RFID 13,56MHz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robusta e estável (C#, ASP.NET Core, SQL Server)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 de compra sem atritos (Frictionless)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de borda de baixo custo (ESP32)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33008" y="2331720"/>
            <a:ext cx="5199736" cy="1965960"/>
          </a:xfrm>
          <a:prstGeom prst="rect">
            <a:avLst/>
          </a:prstGeom>
          <a:solidFill>
            <a:srgbClr val="FFF7E0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3008" y="2331720"/>
            <a:ext cx="54864" cy="1965960"/>
          </a:xfrm>
          <a:prstGeom prst="rect">
            <a:avLst/>
          </a:prstGeom>
          <a:solidFill>
            <a:srgbClr val="B38600"/>
          </a:solidFill>
          <a:ln/>
        </p:spPr>
      </p:sp>
      <p:pic>
        <p:nvPicPr>
          <p:cNvPr id="15" name="Image 1" descr="assets/minus-circle-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251460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81648" y="2478024"/>
            <a:ext cx="446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Fraquezas (Weaknesses)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61608" y="2834640"/>
            <a:ext cx="474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Aplicação manual de tags RFID em todos os produtos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Dependência absoluta de conectividade de internet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 de indisponibilidade em queda de energia sem nobreak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Curva de adaptação do consumidor ao modelo autônomo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58952" y="4526280"/>
            <a:ext cx="5199736" cy="1965960"/>
          </a:xfrm>
          <a:prstGeom prst="rect">
            <a:avLst/>
          </a:prstGeom>
          <a:solidFill>
            <a:srgbClr val="E3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758952" y="4526280"/>
            <a:ext cx="54864" cy="19659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0" name="Image 2" descr="assets/arrow-up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709160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07592" y="4672584"/>
            <a:ext cx="446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87552" y="5029200"/>
            <a:ext cx="474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rápida em condomínios e centros corporativos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do LLM Gemini para insights preditivos de tendências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no modelo de micro-franquias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Containerização modular para escala ágil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Parcerias com administradoras de condomínios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233008" y="4526280"/>
            <a:ext cx="5199736" cy="1965960"/>
          </a:xfrm>
          <a:prstGeom prst="rect">
            <a:avLst/>
          </a:prstGeom>
          <a:solidFill>
            <a:srgbClr val="FBE7E9"/>
          </a:solidFill>
          <a:ln/>
        </p:spPr>
      </p:sp>
      <p:sp>
        <p:nvSpPr>
          <p:cNvPr id="24" name="Shape 19"/>
          <p:cNvSpPr/>
          <p:nvPr/>
        </p:nvSpPr>
        <p:spPr>
          <a:xfrm>
            <a:off x="6233008" y="4526280"/>
            <a:ext cx="54864" cy="1965960"/>
          </a:xfrm>
          <a:prstGeom prst="rect">
            <a:avLst/>
          </a:prstGeom>
          <a:solidFill>
            <a:srgbClr val="DC3545"/>
          </a:solidFill>
          <a:ln/>
        </p:spPr>
      </p:sp>
      <p:pic>
        <p:nvPicPr>
          <p:cNvPr id="25" name="Image 3" descr="assets/exclamation-triangle-da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470916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81648" y="4672584"/>
            <a:ext cx="446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Ameaças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61608" y="5029200"/>
            <a:ext cx="474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Furto e vandalismo (parcialmente mitigado por câmeras)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Concorrência com players consolidados (Amazon Go, Oxxo)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Curva de aprendizado para público não habituado a apps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9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Regulamentações de proteção de dados e evacuação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Cenários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DE HIPÓTESES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Matriz CSD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Orientação para validação de riscos antes de investimentos pesados em infraestrutura de hardware.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286000"/>
            <a:ext cx="3503066" cy="384048"/>
          </a:xfrm>
          <a:prstGeom prst="rect">
            <a:avLst/>
          </a:prstGeom>
          <a:solidFill>
            <a:srgbClr val="E9F6E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86000"/>
            <a:ext cx="3283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CERTEZAS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6882" y="2286000"/>
            <a:ext cx="3503066" cy="384048"/>
          </a:xfrm>
          <a:prstGeom prst="rect">
            <a:avLst/>
          </a:prstGeom>
          <a:solidFill>
            <a:srgbClr val="FFF7E0"/>
          </a:solidFill>
          <a:ln/>
        </p:spPr>
      </p:sp>
      <p:sp>
        <p:nvSpPr>
          <p:cNvPr id="11" name="Text 9"/>
          <p:cNvSpPr/>
          <p:nvPr/>
        </p:nvSpPr>
        <p:spPr>
          <a:xfrm>
            <a:off x="4454042" y="2286000"/>
            <a:ext cx="3283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8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SUPOSIÇÕES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74813" y="2286000"/>
            <a:ext cx="3503066" cy="384048"/>
          </a:xfrm>
          <a:prstGeom prst="rect">
            <a:avLst/>
          </a:prstGeom>
          <a:solidFill>
            <a:srgbClr val="E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011973" y="2286000"/>
            <a:ext cx="3283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715768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 possui excelente capacidade Wi-Fi para processar leituras em borda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54042" y="2715768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(Gen Z e Millennials) preferem auto-atendimento pela rapidez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1973" y="2715768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a taxa de colisão de dados com múltiplas tags 13,56MHz simultâneas?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" y="3383280"/>
            <a:ext cx="10618927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3383280"/>
            <a:ext cx="10618927" cy="71323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429000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C# / ASP.NET / SQL Server garante integridade transacional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54042" y="3429000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com etiquetas será recompensado pela queda drástica de folha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11973" y="3429000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gerenciar devolução após o produto ter sido lido pelo sistema?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" y="4096512"/>
            <a:ext cx="10618927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142232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Leitor RC522 interage com tags Mifare passivas de 13,56MHz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54042" y="4142232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Furtos ocasionais custarão estatisticamente menos que operação 24h humana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11973" y="4142232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o tempo de tolerância de delay até o cliente abandonar a loja?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952" y="4809744"/>
            <a:ext cx="10618927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" y="4809744"/>
            <a:ext cx="10618927" cy="71323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4855464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pode acessar e processar bases SQL de forma segura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54042" y="4855464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micro-franquia será aceito por pequenos investidores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11973" y="4855464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precisão da cobrança automática será aceita sem questionamento?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" y="5522976"/>
            <a:ext cx="10618927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568696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Alarme com alerta imediato é forma viável sem violar normas de evacuação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54042" y="5568696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Condomínios residenciais serão early adopters do conceito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1973" y="5568696"/>
            <a:ext cx="326532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sistema de failover 4G mantém operação em instabilidade de banda larga?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" y="6236208"/>
            <a:ext cx="10618927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Riscos &amp; Incertezas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THINKING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Mapa de Empatia do Cliente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1737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Revelando os incentivos reais que levam uma pessoa a escolher a Smart Store.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148840"/>
            <a:ext cx="5199736" cy="1417320"/>
          </a:xfrm>
          <a:prstGeom prst="rect">
            <a:avLst/>
          </a:prstGeom>
          <a:solidFill>
            <a:srgbClr val="143D5D"/>
          </a:solidFill>
          <a:ln/>
        </p:spPr>
      </p:sp>
      <p:pic>
        <p:nvPicPr>
          <p:cNvPr id="9" name="Image 0" descr="assets/brain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8600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6152" y="2258568"/>
            <a:ext cx="455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Pensa e Sente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41832" y="2560320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"Quero entrar, pegar meu lanche, pagar e sair. Tudo em menos de 2 minutos."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"Odeio ir no mercado só para pegar pão ou leite e ficar preso na fila."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Fascínio pela tecnologia, sentindo-se inovador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Cautela quanto à precisão da cobrança automática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233008" y="2148840"/>
            <a:ext cx="5199736" cy="1417320"/>
          </a:xfrm>
          <a:prstGeom prst="rect">
            <a:avLst/>
          </a:prstGeom>
          <a:solidFill>
            <a:srgbClr val="143D5D"/>
          </a:solidFill>
          <a:ln/>
        </p:spPr>
      </p:sp>
      <p:pic>
        <p:nvPicPr>
          <p:cNvPr id="13" name="Image 1" descr="assets/eye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228600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90208" y="2258568"/>
            <a:ext cx="455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Vê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15888" y="2560320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Mercadinhos tradicionais com filas longas e desorganizados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Totens de self-checkout que frequentemente dão erro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Crescimento de mini-mercados em condomínios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Preços não visíveis e experiência frustrante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758952" y="3703320"/>
            <a:ext cx="5199736" cy="1417320"/>
          </a:xfrm>
          <a:prstGeom prst="rect">
            <a:avLst/>
          </a:prstGeom>
          <a:solidFill>
            <a:srgbClr val="143D5D"/>
          </a:solidFill>
          <a:ln/>
        </p:spPr>
      </p:sp>
      <p:pic>
        <p:nvPicPr>
          <p:cNvPr id="17" name="Image 2" descr="assets/ear-listen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4048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16152" y="3813048"/>
            <a:ext cx="455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Escuta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41832" y="4114800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Comentários de que serviços autônomos são o futuro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Notícias sobre hiper-conveniência (iFood, Amazon Go)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Queixas sobre falta de opções à madrugada após festas/plantões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Reclamações de amigos sobre desistência de compras por demora</a:t>
            </a:r>
            <a:endParaRPr lang="en-US" sz="820" dirty="0"/>
          </a:p>
        </p:txBody>
      </p:sp>
      <p:sp>
        <p:nvSpPr>
          <p:cNvPr id="20" name="Shape 15"/>
          <p:cNvSpPr/>
          <p:nvPr/>
        </p:nvSpPr>
        <p:spPr>
          <a:xfrm>
            <a:off x="6233008" y="3703320"/>
            <a:ext cx="5199736" cy="1417320"/>
          </a:xfrm>
          <a:prstGeom prst="rect">
            <a:avLst/>
          </a:prstGeom>
          <a:solidFill>
            <a:srgbClr val="143D5D"/>
          </a:solidFill>
          <a:ln/>
        </p:spPr>
      </p:sp>
      <p:pic>
        <p:nvPicPr>
          <p:cNvPr id="21" name="Image 3" descr="assets/comment-dots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384048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90208" y="3813048"/>
            <a:ext cx="455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Fala e Faz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415888" y="4114800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 vida financeira no smartphone (Apple Pay, Samsung Wallet, Pix)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Prefere mensagens a interação verbal em tarefas transacionais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Muitas vezes desiste de compra ao ver atrito ou demora visível</a:t>
            </a:r>
            <a:endParaRPr lang="en-US" sz="82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82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Valoriza conveniência acima de preço em compras de urgência</a:t>
            </a:r>
            <a:endParaRPr lang="en-US" sz="820" dirty="0"/>
          </a:p>
        </p:txBody>
      </p:sp>
      <p:sp>
        <p:nvSpPr>
          <p:cNvPr id="24" name="Shape 18"/>
          <p:cNvSpPr/>
          <p:nvPr/>
        </p:nvSpPr>
        <p:spPr>
          <a:xfrm>
            <a:off x="758952" y="5257800"/>
            <a:ext cx="5199736" cy="896112"/>
          </a:xfrm>
          <a:prstGeom prst="rect">
            <a:avLst/>
          </a:prstGeom>
          <a:solidFill>
            <a:srgbClr val="3D1418"/>
          </a:solidFill>
          <a:ln/>
        </p:spPr>
      </p:sp>
      <p:sp>
        <p:nvSpPr>
          <p:cNvPr id="25" name="Shape 19"/>
          <p:cNvSpPr/>
          <p:nvPr/>
        </p:nvSpPr>
        <p:spPr>
          <a:xfrm>
            <a:off x="758952" y="5257800"/>
            <a:ext cx="54864" cy="89611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0"/>
          <p:cNvSpPr/>
          <p:nvPr/>
        </p:nvSpPr>
        <p:spPr>
          <a:xfrm>
            <a:off x="941832" y="5330952"/>
            <a:ext cx="483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B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DORES (PAINS)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41832" y="5568696"/>
            <a:ext cx="483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F0C0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Perda do bem mais valioso: Tempo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F0C0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Desconforto com desorganização em horário de pico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F0C0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Necessidade imediata de suprimentos fora do horário comercial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233008" y="5257800"/>
            <a:ext cx="5199736" cy="896112"/>
          </a:xfrm>
          <a:prstGeom prst="rect">
            <a:avLst/>
          </a:prstGeom>
          <a:solidFill>
            <a:srgbClr val="133321"/>
          </a:solidFill>
          <a:ln/>
        </p:spPr>
      </p:sp>
      <p:sp>
        <p:nvSpPr>
          <p:cNvPr id="29" name="Shape 23"/>
          <p:cNvSpPr/>
          <p:nvPr/>
        </p:nvSpPr>
        <p:spPr>
          <a:xfrm>
            <a:off x="6233008" y="5257800"/>
            <a:ext cx="54864" cy="89611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0" name="Text 24"/>
          <p:cNvSpPr/>
          <p:nvPr/>
        </p:nvSpPr>
        <p:spPr>
          <a:xfrm>
            <a:off x="6415888" y="5330952"/>
            <a:ext cx="483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E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GANHOS (GAINS)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415888" y="5568696"/>
            <a:ext cx="483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C4EF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Aproveitamento total do tempo; jornada frictionless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C4EF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Liberdade de comprar de madrugada em silêncio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800" dirty="0">
                <a:solidFill>
                  <a:srgbClr val="C4EF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Sensação "premium" por usar tecnologia de ponta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Centricidade no Cliente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ESPINHA DORSAL TECNOLÓGICA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Stack Tecnológico e Hardware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Mescla entre computação em nuvem Microsoft, sensores edge de baixo custo, IA do Google e banco relacional robusto.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286000"/>
            <a:ext cx="5108296" cy="103327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3544" y="2450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/>
        </p:spPr>
      </p:sp>
      <p:pic>
        <p:nvPicPr>
          <p:cNvPr id="10" name="Image 0" descr="assets/microchi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5117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6192" y="2395728"/>
            <a:ext cx="419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 — Microcontrolador de Borda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536192" y="2706624"/>
            <a:ext cx="419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IoT vital para coordenar leitura de dados físicos. Alta performance para regras simples e comunicação Wi-Fi nativa.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758952" y="3593592"/>
            <a:ext cx="5108296" cy="103327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3544" y="37581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pic>
        <p:nvPicPr>
          <p:cNvPr id="15" name="Image 1" descr="assets/wifi-accent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8587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36192" y="3703320"/>
            <a:ext cx="419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RC522 (MFRC522) + Tags RFID 13,56MHz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536192" y="4014216"/>
            <a:ext cx="419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de leitura RFID que interpreta tags acopladas aos produtos, já com cartão e tag inclusos no kit. Comunica-se com o ESP32 via barramento SPI.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758952" y="4901184"/>
            <a:ext cx="5108296" cy="103327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3544" y="5065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2540"/>
          </a:solidFill>
          <a:ln/>
        </p:spPr>
      </p:sp>
      <p:pic>
        <p:nvPicPr>
          <p:cNvPr id="20" name="Image 2" descr="assets/cod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1663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36192" y="5010912"/>
            <a:ext cx="419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ASP.NET Core API &amp; C#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536192" y="5321808"/>
            <a:ext cx="419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 backend corporativa onde o "motor" da loja reside. Gerencia carrinho virtual, regras de pagamento e processa entradas REST.</a:t>
            </a:r>
            <a:endParaRPr lang="en-US" sz="870" dirty="0"/>
          </a:p>
        </p:txBody>
      </p:sp>
      <p:sp>
        <p:nvSpPr>
          <p:cNvPr id="23" name="Shape 18"/>
          <p:cNvSpPr/>
          <p:nvPr/>
        </p:nvSpPr>
        <p:spPr>
          <a:xfrm>
            <a:off x="6324448" y="2286000"/>
            <a:ext cx="5108296" cy="103327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89040" y="2450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8A8A"/>
          </a:solidFill>
          <a:ln/>
        </p:spPr>
      </p:sp>
      <p:pic>
        <p:nvPicPr>
          <p:cNvPr id="25" name="Image 3" descr="asset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24" y="255117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01688" y="2395728"/>
            <a:ext cx="419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Server — DB Relacional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101688" y="2706624"/>
            <a:ext cx="419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SGBD Microsoft para armazenamento rígido de inventário, cadastro de usuários e histórico de compras. Integridade ACID garantida.</a:t>
            </a:r>
            <a:endParaRPr lang="en-US" sz="870" dirty="0"/>
          </a:p>
        </p:txBody>
      </p:sp>
      <p:sp>
        <p:nvSpPr>
          <p:cNvPr id="28" name="Shape 22"/>
          <p:cNvSpPr/>
          <p:nvPr/>
        </p:nvSpPr>
        <p:spPr>
          <a:xfrm>
            <a:off x="6324448" y="3593592"/>
            <a:ext cx="5108296" cy="103327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89040" y="37581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8A745"/>
          </a:solidFill>
          <a:ln/>
        </p:spPr>
      </p:sp>
      <p:pic>
        <p:nvPicPr>
          <p:cNvPr id="30" name="Image 4" descr="assets/brain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24" y="385876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01688" y="3703320"/>
            <a:ext cx="419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— Agente IA e Visão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101688" y="4014216"/>
            <a:ext cx="419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logístico, insights preditivos e reconhecimento de imagem em tempo real das prateleiras via câmera.</a:t>
            </a:r>
            <a:endParaRPr lang="en-US" sz="870" dirty="0"/>
          </a:p>
        </p:txBody>
      </p:sp>
      <p:sp>
        <p:nvSpPr>
          <p:cNvPr id="33" name="Shape 26"/>
          <p:cNvSpPr/>
          <p:nvPr/>
        </p:nvSpPr>
        <p:spPr>
          <a:xfrm>
            <a:off x="6324448" y="4901184"/>
            <a:ext cx="5108296" cy="1033272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489040" y="5065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3D5D"/>
          </a:solidFill>
          <a:ln/>
        </p:spPr>
      </p:sp>
      <p:pic>
        <p:nvPicPr>
          <p:cNvPr id="35" name="Image 5" descr="assets/laptop-code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516636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01688" y="5010912"/>
            <a:ext cx="419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Studio — IDE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7101688" y="5321808"/>
            <a:ext cx="419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de desenvolvimento ideal para construção do ecossistema .NET, com suporte nativo ao C# e depuração avançada.</a:t>
            </a:r>
            <a:endParaRPr lang="en-US" sz="870" dirty="0"/>
          </a:p>
        </p:txBody>
      </p:sp>
      <p:sp>
        <p:nvSpPr>
          <p:cNvPr id="38" name="Shape 30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× Google × Espressif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DE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Escalabilidade e Mitigação de Riscos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58952" y="1965960"/>
            <a:ext cx="519973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96596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assets/battery-full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671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0744" y="2148840"/>
            <a:ext cx="437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CONTINGÊNCIA ELÉTRICA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14984" y="2560320"/>
            <a:ext cx="468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unidade conta com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nobreak/UPS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manter sensores, ESP32 e iluminação por horas em caso de blackout. Rede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4G de failover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garante operação se a banda larga falhar.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33008" y="1965960"/>
            <a:ext cx="519973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33008" y="1965960"/>
            <a:ext cx="54864" cy="1828800"/>
          </a:xfrm>
          <a:prstGeom prst="rect">
            <a:avLst/>
          </a:prstGeom>
          <a:solidFill>
            <a:srgbClr val="28A745"/>
          </a:solidFill>
          <a:ln/>
        </p:spPr>
      </p:sp>
      <p:pic>
        <p:nvPicPr>
          <p:cNvPr id="14" name="Image 1" descr="assets/lock-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40" y="21671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4800" y="2148840"/>
            <a:ext cx="437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PROTEÇÃO DE DADOS (LGPD)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89040" y="2560320"/>
            <a:ext cx="468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os dados transitam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encriptados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via API. SQL Server possui rotinas para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mascarar dados pessoais e financeiros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mantendo conformidade total com a Lei Geral de Proteção de Dados.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58952" y="3977640"/>
            <a:ext cx="519973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" y="3977640"/>
            <a:ext cx="54864" cy="1828800"/>
          </a:xfrm>
          <a:prstGeom prst="rect">
            <a:avLst/>
          </a:prstGeom>
          <a:solidFill>
            <a:srgbClr val="B38600"/>
          </a:solidFill>
          <a:ln/>
        </p:spPr>
      </p:sp>
      <p:pic>
        <p:nvPicPr>
          <p:cNvPr id="19" name="Image 2" descr="assets/shield-alt-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788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80744" y="4160520"/>
            <a:ext cx="437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8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PREVENÇÃO A FRAUDES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14984" y="4572000"/>
            <a:ext cx="468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Sensores inteligentes identificam evasões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criar enclausuramento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(ilegal por normas de incêndio). Alarme acústico-visual severo notifica central emergencial, complementado por câmeras e punições via plataforma.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33008" y="3977640"/>
            <a:ext cx="519973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33008" y="3977640"/>
            <a:ext cx="54864" cy="1828800"/>
          </a:xfrm>
          <a:prstGeom prst="rect">
            <a:avLst/>
          </a:prstGeom>
          <a:solidFill>
            <a:srgbClr val="0A2540"/>
          </a:solidFill>
          <a:ln/>
        </p:spPr>
      </p:sp>
      <p:pic>
        <p:nvPicPr>
          <p:cNvPr id="24" name="Image 3" descr="assets/expand-arrows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417880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4800" y="4160520"/>
            <a:ext cx="437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ESCALABILIDADE MODULAR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89040" y="4572000"/>
            <a:ext cx="468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loja pode ser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embarcada em contêiner modular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 adaptada em pequena sala de condomínio. Controle remoto de estoque guiado por IA promove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espelhamento rápido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negócio via franquias.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Resiliência &amp;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2344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A SMART STORE?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5544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Diferencial Competitivo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730088" y="2240280"/>
            <a:ext cx="73152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163928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ecossistema rompe com os maiores gargalos do varejo padrão. Seu real benefício reside na </a:t>
            </a:r>
            <a:pPr algn="ctr" indent="0" marL="0">
              <a:buNone/>
            </a:pPr>
            <a:r>
              <a:rPr lang="en-US" sz="1350" b="1" dirty="0">
                <a:solidFill>
                  <a:srgbClr val="90E0E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virtualização do trabalho repetitivo</a:t>
            </a:r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caixa e monitor de estoque — permitindo que o investimento vá integralmente para a expansão do ponto de venda.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92428" y="3703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E0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592428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Operacional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24148" y="3703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E0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24/7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924148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Contínua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55868" y="3703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E0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&lt;2min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55868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Jornada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 Média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87588" y="3703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0E0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587588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Funcionários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Caixa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Vantagem Competitiva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DE IMPLEMENTAÇÃO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Próximos Passos Imediatos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Cronograma de 4 fases para validação, desenvolvimento e integração completa do ecossistema.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49208" y="2724912"/>
            <a:ext cx="7493279" cy="0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37144" y="246888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1837144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3154680"/>
            <a:ext cx="257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of Concept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3456432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código C++ no ESP32 comunicando com módulo RC522 via SPI. Medir e contornar taxa de colisão de tags 13,56MHz simultâneas.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05592" y="246888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05592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3120" y="3154680"/>
            <a:ext cx="257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do DB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3120" y="3456432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Modelar SQL Server via Visual Studio (Entity Framework Core) com tabelas de Produto, Vendas, Usuários e Tags.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4039" y="246888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4039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1568" y="3154680"/>
            <a:ext cx="257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41568" y="3456432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Finalizar controladores ASP.NET Core que recebem posts do ESP32 para gestão dos carrinhos e gatilho do alarme.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42487" y="2468880"/>
            <a:ext cx="512064" cy="512064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9842487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10015" y="3154680"/>
            <a:ext cx="257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10015" y="3456432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queries via SDK do Gemini para gerar dashboard analítico preditivo do administrador da loja.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" y="4937760"/>
            <a:ext cx="10673791" cy="1051560"/>
          </a:xfrm>
          <a:prstGeom prst="roundRect">
            <a:avLst>
              <a:gd name="adj" fmla="val 5217"/>
            </a:avLst>
          </a:prstGeom>
          <a:solidFill>
            <a:srgbClr val="0A2540"/>
          </a:solidFill>
          <a:ln/>
        </p:spPr>
      </p:sp>
      <p:pic>
        <p:nvPicPr>
          <p:cNvPr id="26" name="Image 0" descr="assets/rocket-accen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5193792"/>
            <a:ext cx="548640" cy="548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856232" y="50749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HORIZONTE ESTRATÉGICO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856232" y="53309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 validação das 4 fases, o modelo estará pronto para </a:t>
            </a:r>
            <a:pPr indent="0" marL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pilotos em condomínios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pPr indent="0" marL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via micro-franquias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contêineres modulares.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× Milestones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3943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58952" y="658368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2194560" cy="2194560"/>
          </a:xfrm>
          <a:prstGeom prst="ellipse">
            <a:avLst/>
          </a:prstGeom>
          <a:solidFill>
            <a:srgbClr val="143D5D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35440" y="4663440"/>
            <a:ext cx="2560320" cy="2560320"/>
          </a:xfrm>
          <a:prstGeom prst="ellipse">
            <a:avLst/>
          </a:prstGeom>
          <a:solidFill>
            <a:srgbClr val="143D5D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029200"/>
            <a:ext cx="1463040" cy="1463040"/>
          </a:xfrm>
          <a:prstGeom prst="ellipse">
            <a:avLst/>
          </a:prstGeom>
          <a:solidFill>
            <a:srgbClr val="143D5D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17830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Smart Store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730088" y="2606040"/>
            <a:ext cx="73152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255368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união entre </a:t>
            </a:r>
            <a:pPr algn="ctr" indent="0" marL="0">
              <a:buNone/>
            </a:pPr>
            <a:r>
              <a:rPr lang="en-US" sz="1400" b="1" dirty="0">
                <a:solidFill>
                  <a:srgbClr val="90E0E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acessível (ESP32)</a:t>
            </a:r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pPr algn="ctr" indent="0" marL="0">
              <a:buNone/>
            </a:pPr>
            <a:r>
              <a:rPr lang="en-US" sz="1400" b="1" dirty="0">
                <a:solidFill>
                  <a:srgbClr val="90E0E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corporativo (ASP.NET / SQL Server)</a:t>
            </a:r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garante margem de lucro com alta confiança sistêmica.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55368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55368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COMPUTING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98568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98568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INSIGHTS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41768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E0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741768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53492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15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VAREJO AUTÔNOMO  ×  CONTROLE INTELIGENTE  ×  EXPERIÊNCIA SEM FRICÇÃO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8952" y="6355080"/>
            <a:ext cx="10673791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Store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60743" y="6437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2026-07-28T13:33:53Z</dcterms:created>
  <dcterms:modified xsi:type="dcterms:W3CDTF">2026-07-28T13:33:53Z</dcterms:modified>
</cp:coreProperties>
</file>